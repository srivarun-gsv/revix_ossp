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an reddy" userId="49a514d48d5e19d6" providerId="LiveId" clId="{70305242-1CA7-4A01-951C-43E153E121BE}"/>
    <pc:docChg chg="custSel modSld">
      <pc:chgData name="charan reddy" userId="49a514d48d5e19d6" providerId="LiveId" clId="{70305242-1CA7-4A01-951C-43E153E121BE}" dt="2026-09-24T03:14:57.410" v="8" actId="20577"/>
      <pc:docMkLst>
        <pc:docMk/>
      </pc:docMkLst>
      <pc:sldChg chg="addSp delSp modSp mod">
        <pc:chgData name="charan reddy" userId="49a514d48d5e19d6" providerId="LiveId" clId="{70305242-1CA7-4A01-951C-43E153E121BE}" dt="2026-09-24T03:14:57.410" v="8" actId="20577"/>
        <pc:sldMkLst>
          <pc:docMk/>
          <pc:sldMk cId="0" sldId="267"/>
        </pc:sldMkLst>
        <pc:spChg chg="del">
          <ac:chgData name="charan reddy" userId="49a514d48d5e19d6" providerId="LiveId" clId="{70305242-1CA7-4A01-951C-43E153E121BE}" dt="2026-09-24T03:14:31.580" v="1" actId="478"/>
          <ac:spMkLst>
            <pc:docMk/>
            <pc:sldMk cId="0" sldId="267"/>
            <ac:spMk id="4" creationId="{00000000-0000-0000-0000-000000000000}"/>
          </ac:spMkLst>
        </pc:spChg>
        <pc:spChg chg="mod">
          <ac:chgData name="charan reddy" userId="49a514d48d5e19d6" providerId="LiveId" clId="{70305242-1CA7-4A01-951C-43E153E121BE}" dt="2026-09-24T03:14:57.410" v="8" actId="20577"/>
          <ac:spMkLst>
            <pc:docMk/>
            <pc:sldMk cId="0" sldId="267"/>
            <ac:spMk id="5" creationId="{00000000-0000-0000-0000-000000000000}"/>
          </ac:spMkLst>
        </pc:spChg>
        <pc:spChg chg="del">
          <ac:chgData name="charan reddy" userId="49a514d48d5e19d6" providerId="LiveId" clId="{70305242-1CA7-4A01-951C-43E153E121BE}" dt="2026-09-24T03:14:27.116" v="0" actId="478"/>
          <ac:spMkLst>
            <pc:docMk/>
            <pc:sldMk cId="0" sldId="267"/>
            <ac:spMk id="6" creationId="{00000000-0000-0000-0000-000000000000}"/>
          </ac:spMkLst>
        </pc:spChg>
        <pc:spChg chg="add del mod">
          <ac:chgData name="charan reddy" userId="49a514d48d5e19d6" providerId="LiveId" clId="{70305242-1CA7-4A01-951C-43E153E121BE}" dt="2026-09-24T03:14:41.260" v="7"/>
          <ac:spMkLst>
            <pc:docMk/>
            <pc:sldMk cId="0" sldId="267"/>
            <ac:spMk id="8" creationId="{5EFAF0B8-AE0A-BBD7-1B60-E2798DCC1C9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411480"/>
            <a:ext cx="1371600" cy="411480"/>
          </a:xfrm>
          <a:prstGeom prst="rect">
            <a:avLst/>
          </a:prstGeom>
          <a:noFill/>
        </p:spPr>
        <p:txBody>
          <a:bodyPr wrap="none">
            <a:spAutoFit/>
          </a:bodyPr>
          <a:lstStyle/>
          <a:p>
            <a:pPr>
              <a:defRPr sz="3000" b="1">
                <a:solidFill>
                  <a:srgbClr val="B01B24"/>
                </a:solidFill>
              </a:defRPr>
            </a:pPr>
            <a:r>
              <a:t>KL</a:t>
            </a:r>
          </a:p>
        </p:txBody>
      </p:sp>
      <p:sp>
        <p:nvSpPr>
          <p:cNvPr id="4" name="TextBox 3"/>
          <p:cNvSpPr txBox="1"/>
          <p:nvPr/>
        </p:nvSpPr>
        <p:spPr>
          <a:xfrm>
            <a:off x="822960" y="1508760"/>
            <a:ext cx="8372805" cy="615553"/>
          </a:xfrm>
          <a:prstGeom prst="rect">
            <a:avLst/>
          </a:prstGeom>
          <a:noFill/>
        </p:spPr>
        <p:txBody>
          <a:bodyPr wrap="none">
            <a:spAutoFit/>
          </a:bodyPr>
          <a:lstStyle/>
          <a:p>
            <a:pPr>
              <a:defRPr sz="3400" b="1">
                <a:solidFill>
                  <a:srgbClr val="1B3254"/>
                </a:solidFill>
                <a:latin typeface="Arial"/>
              </a:defRPr>
            </a:pPr>
            <a:r>
              <a:rPr lang="en-IN" sz="3400" b="1" dirty="0">
                <a:solidFill>
                  <a:srgbClr val="1B3254"/>
                </a:solidFill>
                <a:latin typeface="Arial"/>
              </a:rPr>
              <a:t>. Linux Service and Process Supervisor</a:t>
            </a:r>
            <a:endParaRPr dirty="0"/>
          </a:p>
        </p:txBody>
      </p:sp>
      <p:sp>
        <p:nvSpPr>
          <p:cNvPr id="5" name="TextBox 4"/>
          <p:cNvSpPr txBox="1"/>
          <p:nvPr/>
        </p:nvSpPr>
        <p:spPr>
          <a:xfrm>
            <a:off x="841248" y="3063240"/>
            <a:ext cx="9875520" cy="548640"/>
          </a:xfrm>
          <a:prstGeom prst="rect">
            <a:avLst/>
          </a:prstGeom>
          <a:noFill/>
        </p:spPr>
        <p:txBody>
          <a:bodyPr wrap="none">
            <a:spAutoFit/>
          </a:bodyPr>
          <a:lstStyle/>
          <a:p>
            <a:pPr>
              <a:defRPr sz="2000" b="1">
                <a:solidFill>
                  <a:srgbClr val="B01B24"/>
                </a:solidFill>
              </a:defRPr>
            </a:pPr>
            <a:r>
              <a:t>OPERATING SYSTEMS AND SYSTEMS PROGRAMMING (25CS2104E)</a:t>
            </a:r>
          </a:p>
        </p:txBody>
      </p:sp>
      <p:sp>
        <p:nvSpPr>
          <p:cNvPr id="6" name="Rounded Rectangle 5"/>
          <p:cNvSpPr/>
          <p:nvPr/>
        </p:nvSpPr>
        <p:spPr>
          <a:xfrm>
            <a:off x="731520" y="4069080"/>
            <a:ext cx="3108960" cy="105156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500" b="1">
                <a:solidFill>
                  <a:srgbClr val="1B3254"/>
                </a:solidFill>
                <a:latin typeface="Arial"/>
              </a:defRPr>
            </a:pPr>
            <a:r>
              <a:rPr dirty="0"/>
              <a:t>SECTION</a:t>
            </a:r>
          </a:p>
          <a:p>
            <a:pPr>
              <a:spcBef>
                <a:spcPts val="800"/>
              </a:spcBef>
              <a:defRPr sz="1400">
                <a:solidFill>
                  <a:srgbClr val="23262B"/>
                </a:solidFill>
                <a:latin typeface="Arial"/>
              </a:defRPr>
            </a:pPr>
            <a:r>
              <a:rPr dirty="0"/>
              <a:t>Section No.: </a:t>
            </a:r>
            <a:r>
              <a:rPr lang="en-US" dirty="0"/>
              <a:t>8</a:t>
            </a:r>
            <a:endParaRPr dirty="0"/>
          </a:p>
        </p:txBody>
      </p:sp>
      <p:sp>
        <p:nvSpPr>
          <p:cNvPr id="7" name="Rectangle 6"/>
          <p:cNvSpPr/>
          <p:nvPr/>
        </p:nvSpPr>
        <p:spPr>
          <a:xfrm>
            <a:off x="731520" y="4069080"/>
            <a:ext cx="64008" cy="105156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51960" y="4069080"/>
            <a:ext cx="3108960" cy="105156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500" b="1">
                <a:solidFill>
                  <a:srgbClr val="1B3254"/>
                </a:solidFill>
                <a:latin typeface="Arial"/>
              </a:defRPr>
            </a:pPr>
            <a:r>
              <a:rPr dirty="0"/>
              <a:t>TEAM</a:t>
            </a:r>
          </a:p>
          <a:p>
            <a:pPr>
              <a:spcBef>
                <a:spcPts val="800"/>
              </a:spcBef>
              <a:defRPr sz="1400">
                <a:solidFill>
                  <a:srgbClr val="23262B"/>
                </a:solidFill>
                <a:latin typeface="Arial"/>
              </a:defRPr>
            </a:pPr>
            <a:r>
              <a:rPr dirty="0"/>
              <a:t>Team No.: </a:t>
            </a:r>
            <a:r>
              <a:rPr lang="en-US" dirty="0"/>
              <a:t>1</a:t>
            </a:r>
            <a:r>
              <a:rPr dirty="0"/>
              <a:t>2</a:t>
            </a:r>
          </a:p>
        </p:txBody>
      </p:sp>
      <p:sp>
        <p:nvSpPr>
          <p:cNvPr id="9" name="Rectangle 8"/>
          <p:cNvSpPr/>
          <p:nvPr/>
        </p:nvSpPr>
        <p:spPr>
          <a:xfrm>
            <a:off x="4251960" y="4069080"/>
            <a:ext cx="64008" cy="105156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0" y="4069080"/>
            <a:ext cx="3108960" cy="105156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500" b="1">
                <a:solidFill>
                  <a:srgbClr val="1B3254"/>
                </a:solidFill>
                <a:latin typeface="Arial"/>
              </a:defRPr>
            </a:pPr>
            <a:r>
              <a:t>TERM</a:t>
            </a:r>
          </a:p>
          <a:p>
            <a:pPr>
              <a:spcBef>
                <a:spcPts val="800"/>
              </a:spcBef>
              <a:defRPr sz="1400">
                <a:solidFill>
                  <a:srgbClr val="23262B"/>
                </a:solidFill>
                <a:latin typeface="Arial"/>
              </a:defRPr>
            </a:pPr>
            <a:r>
              <a:t>2026–27 • Term-I</a:t>
            </a:r>
          </a:p>
        </p:txBody>
      </p:sp>
      <p:sp>
        <p:nvSpPr>
          <p:cNvPr id="11" name="Rectangle 10"/>
          <p:cNvSpPr/>
          <p:nvPr/>
        </p:nvSpPr>
        <p:spPr>
          <a:xfrm>
            <a:off x="7772400" y="4069080"/>
            <a:ext cx="64008" cy="1051560"/>
          </a:xfrm>
          <a:prstGeom prst="rect">
            <a:avLst/>
          </a:prstGeom>
          <a:solidFill>
            <a:srgbClr val="C49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5715000"/>
            <a:ext cx="7315200" cy="365760"/>
          </a:xfrm>
          <a:prstGeom prst="rect">
            <a:avLst/>
          </a:prstGeom>
          <a:noFill/>
        </p:spPr>
        <p:txBody>
          <a:bodyPr wrap="none">
            <a:spAutoFit/>
          </a:bodyPr>
          <a:lstStyle/>
          <a:p>
            <a:pPr>
              <a:defRPr sz="1400" b="1">
                <a:solidFill>
                  <a:srgbClr val="55585F"/>
                </a:solidFill>
              </a:defRPr>
            </a:pPr>
            <a:r>
              <a:t>Koneru Lakshmaiah Education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TEAM DETAILS</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2</a:t>
            </a:r>
          </a:p>
        </p:txBody>
      </p:sp>
      <p:sp>
        <p:nvSpPr>
          <p:cNvPr id="6" name="Rounded Rectangle 5"/>
          <p:cNvSpPr/>
          <p:nvPr/>
        </p:nvSpPr>
        <p:spPr>
          <a:xfrm>
            <a:off x="731520" y="1234440"/>
            <a:ext cx="5074920" cy="123444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600" b="1">
                <a:solidFill>
                  <a:srgbClr val="1B3254"/>
                </a:solidFill>
                <a:latin typeface="Arial"/>
              </a:defRPr>
            </a:pPr>
            <a:r>
              <a:rPr dirty="0"/>
              <a:t>2520030</a:t>
            </a:r>
            <a:r>
              <a:rPr lang="en-US" dirty="0"/>
              <a:t>093</a:t>
            </a:r>
            <a:endParaRPr dirty="0"/>
          </a:p>
          <a:p>
            <a:pPr>
              <a:spcBef>
                <a:spcPts val="800"/>
              </a:spcBef>
              <a:defRPr sz="1500">
                <a:solidFill>
                  <a:srgbClr val="23262B"/>
                </a:solidFill>
                <a:latin typeface="Arial"/>
              </a:defRPr>
            </a:pPr>
            <a:r>
              <a:rPr lang="en-US" dirty="0"/>
              <a:t>K Sri Charan</a:t>
            </a:r>
            <a:endParaRPr dirty="0"/>
          </a:p>
        </p:txBody>
      </p:sp>
      <p:sp>
        <p:nvSpPr>
          <p:cNvPr id="7" name="Rectangle 6"/>
          <p:cNvSpPr/>
          <p:nvPr/>
        </p:nvSpPr>
        <p:spPr>
          <a:xfrm>
            <a:off x="731520" y="1234440"/>
            <a:ext cx="64008" cy="123444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09360" y="1234440"/>
            <a:ext cx="5074920" cy="123444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600" b="1">
                <a:solidFill>
                  <a:srgbClr val="1B3254"/>
                </a:solidFill>
                <a:latin typeface="Arial"/>
              </a:defRPr>
            </a:pPr>
            <a:r>
              <a:rPr dirty="0"/>
              <a:t>2520030</a:t>
            </a:r>
            <a:r>
              <a:rPr lang="en-US" dirty="0"/>
              <a:t>324</a:t>
            </a:r>
          </a:p>
          <a:p>
            <a:pPr algn="ctr">
              <a:defRPr sz="1600" b="1">
                <a:solidFill>
                  <a:srgbClr val="1B3254"/>
                </a:solidFill>
                <a:latin typeface="Arial"/>
              </a:defRPr>
            </a:pPr>
            <a:r>
              <a:rPr lang="en-US" dirty="0"/>
              <a:t>Sri Varun</a:t>
            </a:r>
            <a:endParaRPr dirty="0"/>
          </a:p>
        </p:txBody>
      </p:sp>
      <p:sp>
        <p:nvSpPr>
          <p:cNvPr id="9" name="Rectangle 8"/>
          <p:cNvSpPr/>
          <p:nvPr/>
        </p:nvSpPr>
        <p:spPr>
          <a:xfrm>
            <a:off x="6309360" y="1234440"/>
            <a:ext cx="64008" cy="123444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971800"/>
            <a:ext cx="5074920" cy="123444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600" b="1">
                <a:solidFill>
                  <a:srgbClr val="1B3254"/>
                </a:solidFill>
                <a:latin typeface="Arial"/>
              </a:defRPr>
            </a:pPr>
            <a:r>
              <a:rPr dirty="0"/>
              <a:t>2520030</a:t>
            </a:r>
            <a:r>
              <a:rPr lang="en-US" dirty="0"/>
              <a:t>569</a:t>
            </a:r>
            <a:endParaRPr dirty="0"/>
          </a:p>
          <a:p>
            <a:pPr>
              <a:spcBef>
                <a:spcPts val="800"/>
              </a:spcBef>
              <a:defRPr sz="1500">
                <a:solidFill>
                  <a:srgbClr val="23262B"/>
                </a:solidFill>
                <a:latin typeface="Arial"/>
              </a:defRPr>
            </a:pPr>
            <a:r>
              <a:rPr lang="en-US" dirty="0"/>
              <a:t>G Teja</a:t>
            </a:r>
            <a:endParaRPr dirty="0"/>
          </a:p>
        </p:txBody>
      </p:sp>
      <p:sp>
        <p:nvSpPr>
          <p:cNvPr id="11" name="Rectangle 10"/>
          <p:cNvSpPr/>
          <p:nvPr/>
        </p:nvSpPr>
        <p:spPr>
          <a:xfrm>
            <a:off x="731520" y="2971800"/>
            <a:ext cx="64008" cy="1234440"/>
          </a:xfrm>
          <a:prstGeom prst="rect">
            <a:avLst/>
          </a:prstGeom>
          <a:solidFill>
            <a:srgbClr val="C49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2971800"/>
            <a:ext cx="5074920" cy="123444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600" b="1">
                <a:solidFill>
                  <a:srgbClr val="1B3254"/>
                </a:solidFill>
                <a:latin typeface="Arial"/>
              </a:defRPr>
            </a:pPr>
            <a:r>
              <a:rPr dirty="0"/>
              <a:t>2520030</a:t>
            </a:r>
            <a:r>
              <a:rPr lang="en-US" dirty="0"/>
              <a:t>0368</a:t>
            </a:r>
            <a:endParaRPr dirty="0"/>
          </a:p>
          <a:p>
            <a:pPr>
              <a:spcBef>
                <a:spcPts val="800"/>
              </a:spcBef>
              <a:defRPr sz="1500">
                <a:solidFill>
                  <a:srgbClr val="23262B"/>
                </a:solidFill>
                <a:latin typeface="Arial"/>
              </a:defRPr>
            </a:pPr>
            <a:r>
              <a:rPr lang="en-US" dirty="0"/>
              <a:t>Satya Charan</a:t>
            </a:r>
            <a:endParaRPr dirty="0"/>
          </a:p>
        </p:txBody>
      </p:sp>
      <p:sp>
        <p:nvSpPr>
          <p:cNvPr id="13" name="Rectangle 12"/>
          <p:cNvSpPr/>
          <p:nvPr/>
        </p:nvSpPr>
        <p:spPr>
          <a:xfrm>
            <a:off x="6309360" y="2971800"/>
            <a:ext cx="64008" cy="123444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4800600"/>
            <a:ext cx="2756267" cy="492443"/>
          </a:xfrm>
          <a:prstGeom prst="rect">
            <a:avLst/>
          </a:prstGeom>
          <a:noFill/>
        </p:spPr>
        <p:txBody>
          <a:bodyPr wrap="none">
            <a:spAutoFit/>
          </a:bodyPr>
          <a:lstStyle/>
          <a:p>
            <a:pPr>
              <a:defRPr sz="1300">
                <a:solidFill>
                  <a:srgbClr val="55585F"/>
                </a:solidFill>
              </a:defRPr>
            </a:pPr>
            <a:r>
              <a:rPr dirty="0"/>
              <a:t>Project title</a:t>
            </a:r>
            <a:endParaRPr lang="en-US" dirty="0"/>
          </a:p>
          <a:p>
            <a:pPr>
              <a:defRPr sz="1300">
                <a:solidFill>
                  <a:srgbClr val="55585F"/>
                </a:solidFill>
              </a:defRPr>
            </a:pPr>
            <a:r>
              <a:rPr lang="en-IN" sz="1300" dirty="0">
                <a:solidFill>
                  <a:srgbClr val="55585F"/>
                </a:solidFill>
              </a:rPr>
              <a:t>. Linux Service and Process Supervisor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ABSTRACT</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3</a:t>
            </a:r>
          </a:p>
        </p:txBody>
      </p:sp>
      <p:sp>
        <p:nvSpPr>
          <p:cNvPr id="6" name="Rounded Rectangle 5"/>
          <p:cNvSpPr/>
          <p:nvPr/>
        </p:nvSpPr>
        <p:spPr>
          <a:xfrm>
            <a:off x="841248" y="1271016"/>
            <a:ext cx="10652760" cy="443484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600" b="1">
                <a:solidFill>
                  <a:srgbClr val="1B3254"/>
                </a:solidFill>
                <a:latin typeface="Arial"/>
              </a:defRPr>
            </a:pPr>
            <a:r>
              <a:rPr dirty="0"/>
              <a:t>PROJECT OVERVIEW</a:t>
            </a:r>
          </a:p>
          <a:p>
            <a:pPr>
              <a:spcBef>
                <a:spcPts val="800"/>
              </a:spcBef>
              <a:defRPr sz="1700">
                <a:solidFill>
                  <a:srgbClr val="23262B"/>
                </a:solidFill>
                <a:latin typeface="Arial"/>
              </a:defRPr>
            </a:pPr>
            <a:r>
              <a:rPr lang="en-IN" sz="1700" dirty="0">
                <a:solidFill>
                  <a:srgbClr val="23262B"/>
                </a:solidFill>
                <a:latin typeface="Arial"/>
              </a:rPr>
              <a:t>A Linux-based process and service monitoring system that allows users to view running processes, monitor their resource usage, and control selected processes. The system uses Linux process-management commands and system interfaces to display process information such as Process ID, CPU usage, memory usage, and process state. It also provides basic operations such as starting, stopping, and terminating processes while handling invalid process IDs and permission-related errors.</a:t>
            </a:r>
          </a:p>
          <a:p>
            <a:pPr>
              <a:spcBef>
                <a:spcPts val="800"/>
              </a:spcBef>
              <a:defRPr sz="1700">
                <a:solidFill>
                  <a:srgbClr val="23262B"/>
                </a:solidFill>
                <a:latin typeface="Arial"/>
              </a:defRPr>
            </a:pPr>
            <a:r>
              <a:rPr dirty="0"/>
              <a:t>.</a:t>
            </a:r>
          </a:p>
        </p:txBody>
      </p:sp>
      <p:sp>
        <p:nvSpPr>
          <p:cNvPr id="7" name="Rectangle 6"/>
          <p:cNvSpPr/>
          <p:nvPr/>
        </p:nvSpPr>
        <p:spPr>
          <a:xfrm>
            <a:off x="777240" y="1234440"/>
            <a:ext cx="64008" cy="443484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INTRODUCTION</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4</a:t>
            </a:r>
          </a:p>
        </p:txBody>
      </p:sp>
      <p:sp>
        <p:nvSpPr>
          <p:cNvPr id="6" name="Rounded Rectangle 5"/>
          <p:cNvSpPr/>
          <p:nvPr/>
        </p:nvSpPr>
        <p:spPr>
          <a:xfrm>
            <a:off x="731520" y="1143000"/>
            <a:ext cx="10698480" cy="150876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600" b="1">
                <a:solidFill>
                  <a:srgbClr val="1B3254"/>
                </a:solidFill>
                <a:latin typeface="Arial"/>
              </a:defRPr>
            </a:pPr>
            <a:r>
              <a:rPr dirty="0"/>
              <a:t>WHY THIS PROJECT?</a:t>
            </a:r>
          </a:p>
          <a:p>
            <a:pPr>
              <a:spcBef>
                <a:spcPts val="800"/>
              </a:spcBef>
              <a:defRPr sz="1600">
                <a:solidFill>
                  <a:srgbClr val="23262B"/>
                </a:solidFill>
                <a:latin typeface="Arial"/>
              </a:defRPr>
            </a:pPr>
            <a:r>
              <a:rPr lang="en-IN" sz="1600" dirty="0">
                <a:solidFill>
                  <a:srgbClr val="23262B"/>
                </a:solidFill>
                <a:latin typeface="Arial"/>
              </a:rPr>
              <a:t>Linux systems run many background services and processes simultaneously. Managing these processes manually through multiple commands can be difficult for beginners.</a:t>
            </a:r>
            <a:r>
              <a:rPr dirty="0"/>
              <a:t>.</a:t>
            </a:r>
          </a:p>
        </p:txBody>
      </p:sp>
      <p:sp>
        <p:nvSpPr>
          <p:cNvPr id="7" name="Rectangle 6"/>
          <p:cNvSpPr/>
          <p:nvPr/>
        </p:nvSpPr>
        <p:spPr>
          <a:xfrm>
            <a:off x="731520" y="1143000"/>
            <a:ext cx="64008" cy="150876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94360" y="3246120"/>
            <a:ext cx="251460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US" dirty="0"/>
              <a:t>View process</a:t>
            </a:r>
          </a:p>
          <a:p>
            <a:pPr>
              <a:spcBef>
                <a:spcPts val="800"/>
              </a:spcBef>
              <a:defRPr sz="1300">
                <a:solidFill>
                  <a:srgbClr val="23262B"/>
                </a:solidFill>
                <a:latin typeface="Arial"/>
              </a:defRPr>
            </a:pPr>
            <a:r>
              <a:rPr lang="en-US" dirty="0"/>
              <a:t>Display running process</a:t>
            </a:r>
          </a:p>
        </p:txBody>
      </p:sp>
      <p:sp>
        <p:nvSpPr>
          <p:cNvPr id="9" name="Rectangle 8"/>
          <p:cNvSpPr/>
          <p:nvPr/>
        </p:nvSpPr>
        <p:spPr>
          <a:xfrm>
            <a:off x="594360" y="3246120"/>
            <a:ext cx="64008" cy="141732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474720" y="3246120"/>
            <a:ext cx="251460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US" dirty="0"/>
              <a:t>Select Process</a:t>
            </a:r>
            <a:endParaRPr dirty="0"/>
          </a:p>
          <a:p>
            <a:pPr>
              <a:spcBef>
                <a:spcPts val="800"/>
              </a:spcBef>
              <a:defRPr sz="1300">
                <a:solidFill>
                  <a:srgbClr val="23262B"/>
                </a:solidFill>
                <a:latin typeface="Arial"/>
              </a:defRPr>
            </a:pPr>
            <a:r>
              <a:rPr lang="en-US" dirty="0"/>
              <a:t>Choose process using </a:t>
            </a:r>
            <a:r>
              <a:rPr lang="en-US" dirty="0" err="1"/>
              <a:t>pid</a:t>
            </a:r>
            <a:endParaRPr dirty="0"/>
          </a:p>
        </p:txBody>
      </p:sp>
      <p:sp>
        <p:nvSpPr>
          <p:cNvPr id="11" name="Rectangle 10"/>
          <p:cNvSpPr/>
          <p:nvPr/>
        </p:nvSpPr>
        <p:spPr>
          <a:xfrm>
            <a:off x="3474720" y="3246120"/>
            <a:ext cx="64008" cy="1417320"/>
          </a:xfrm>
          <a:prstGeom prst="rect">
            <a:avLst/>
          </a:prstGeom>
          <a:solidFill>
            <a:srgbClr val="C49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55080" y="3246120"/>
            <a:ext cx="251460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MONITOR</a:t>
            </a:r>
          </a:p>
          <a:p>
            <a:pPr algn="ctr">
              <a:defRPr sz="1400" b="1">
                <a:solidFill>
                  <a:srgbClr val="1B3254"/>
                </a:solidFill>
                <a:latin typeface="Arial"/>
              </a:defRPr>
            </a:pPr>
            <a:br>
              <a:rPr lang="en-IN" sz="1400" b="1" dirty="0">
                <a:solidFill>
                  <a:srgbClr val="1B3254"/>
                </a:solidFill>
                <a:latin typeface="Arial"/>
              </a:rPr>
            </a:br>
            <a:r>
              <a:rPr lang="en-IN" sz="1400" b="1" dirty="0">
                <a:solidFill>
                  <a:srgbClr val="1B3254"/>
                </a:solidFill>
                <a:latin typeface="Arial"/>
              </a:rPr>
              <a:t>Check CPU, memory and state</a:t>
            </a:r>
            <a:endParaRPr dirty="0"/>
          </a:p>
          <a:p>
            <a:pPr>
              <a:spcBef>
                <a:spcPts val="800"/>
              </a:spcBef>
              <a:defRPr sz="1300">
                <a:solidFill>
                  <a:srgbClr val="23262B"/>
                </a:solidFill>
                <a:latin typeface="Arial"/>
              </a:defRPr>
            </a:pPr>
            <a:endParaRPr dirty="0"/>
          </a:p>
        </p:txBody>
      </p:sp>
      <p:sp>
        <p:nvSpPr>
          <p:cNvPr id="13" name="Rectangle 12"/>
          <p:cNvSpPr/>
          <p:nvPr/>
        </p:nvSpPr>
        <p:spPr>
          <a:xfrm>
            <a:off x="6355080" y="3246120"/>
            <a:ext cx="64008" cy="141732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235440" y="3246120"/>
            <a:ext cx="251460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CONTROL PROCESS</a:t>
            </a:r>
          </a:p>
          <a:p>
            <a:pPr algn="ctr">
              <a:defRPr sz="1400" b="1">
                <a:solidFill>
                  <a:srgbClr val="1B3254"/>
                </a:solidFill>
                <a:latin typeface="Arial"/>
              </a:defRPr>
            </a:pPr>
            <a:br>
              <a:rPr lang="en-IN" sz="1400" b="1" dirty="0">
                <a:solidFill>
                  <a:srgbClr val="1B3254"/>
                </a:solidFill>
                <a:latin typeface="Arial"/>
              </a:rPr>
            </a:br>
            <a:r>
              <a:rPr lang="en-IN" sz="1400" b="1" dirty="0">
                <a:solidFill>
                  <a:srgbClr val="1B3254"/>
                </a:solidFill>
                <a:latin typeface="Arial"/>
              </a:rPr>
              <a:t>Start / Stop / Terminate</a:t>
            </a:r>
            <a:endParaRPr dirty="0"/>
          </a:p>
        </p:txBody>
      </p:sp>
      <p:sp>
        <p:nvSpPr>
          <p:cNvPr id="15" name="Rectangle 14"/>
          <p:cNvSpPr/>
          <p:nvPr/>
        </p:nvSpPr>
        <p:spPr>
          <a:xfrm>
            <a:off x="9235440" y="3246120"/>
            <a:ext cx="64008" cy="1417320"/>
          </a:xfrm>
          <a:prstGeom prst="rect">
            <a:avLst/>
          </a:prstGeom>
          <a:solidFill>
            <a:srgbClr val="C49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743200" y="5074920"/>
            <a:ext cx="6675120" cy="86868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VERIFY STATUS</a:t>
            </a:r>
            <a:br>
              <a:rPr lang="en-IN" sz="1400" b="1" dirty="0">
                <a:solidFill>
                  <a:srgbClr val="1B3254"/>
                </a:solidFill>
                <a:latin typeface="Arial"/>
              </a:rPr>
            </a:br>
            <a:r>
              <a:rPr lang="en-IN" sz="1400" b="1" dirty="0">
                <a:solidFill>
                  <a:srgbClr val="1B3254"/>
                </a:solidFill>
                <a:latin typeface="Arial"/>
              </a:rPr>
              <a:t>Check whether the operation was successful</a:t>
            </a:r>
            <a:endParaRPr dirty="0"/>
          </a:p>
        </p:txBody>
      </p:sp>
      <p:sp>
        <p:nvSpPr>
          <p:cNvPr id="17" name="Rectangle 16"/>
          <p:cNvSpPr/>
          <p:nvPr/>
        </p:nvSpPr>
        <p:spPr>
          <a:xfrm>
            <a:off x="2743200" y="5074920"/>
            <a:ext cx="64008" cy="86868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EXISTING APPROACH</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5</a:t>
            </a:r>
          </a:p>
        </p:txBody>
      </p:sp>
      <p:sp>
        <p:nvSpPr>
          <p:cNvPr id="6" name="TextBox 5"/>
          <p:cNvSpPr txBox="1"/>
          <p:nvPr/>
        </p:nvSpPr>
        <p:spPr>
          <a:xfrm>
            <a:off x="822960" y="1234440"/>
            <a:ext cx="10424160" cy="3416320"/>
          </a:xfrm>
          <a:prstGeom prst="rect">
            <a:avLst/>
          </a:prstGeom>
          <a:noFill/>
        </p:spPr>
        <p:txBody>
          <a:bodyPr wrap="square">
            <a:spAutoFit/>
          </a:bodyPr>
          <a:lstStyle/>
          <a:p>
            <a:pPr lvl="0"/>
            <a:r>
              <a:rPr lang="en-IN" sz="2400" dirty="0"/>
              <a:t>Linux provides commands such as </a:t>
            </a:r>
            <a:r>
              <a:rPr lang="en-IN" sz="2400" dirty="0" err="1"/>
              <a:t>ps</a:t>
            </a:r>
            <a:r>
              <a:rPr lang="en-IN" sz="2400" dirty="0"/>
              <a:t>, top, kill, and </a:t>
            </a:r>
            <a:r>
              <a:rPr lang="en-IN" sz="2400" dirty="0" err="1"/>
              <a:t>systemctl</a:t>
            </a:r>
            <a:r>
              <a:rPr lang="en-IN" sz="2400" dirty="0"/>
              <a:t> for process and service management. </a:t>
            </a:r>
          </a:p>
          <a:p>
            <a:pPr lvl="0"/>
            <a:r>
              <a:rPr lang="en-IN" sz="2400" dirty="0"/>
              <a:t>Different commands are required for different monitoring and control operations. </a:t>
            </a:r>
          </a:p>
          <a:p>
            <a:pPr lvl="0"/>
            <a:r>
              <a:rPr lang="en-IN" sz="2400" dirty="0"/>
              <a:t>Beginners may find it difficult to understand process IDs, states, signals, and service status. </a:t>
            </a:r>
          </a:p>
          <a:p>
            <a:pPr lvl="0"/>
            <a:r>
              <a:rPr lang="en-IN" sz="2400" dirty="0"/>
              <a:t>Process information is often displayed in separate command-line interfaces. </a:t>
            </a:r>
          </a:p>
          <a:p>
            <a:pPr lvl="0"/>
            <a:r>
              <a:rPr lang="en-IN" sz="2400" dirty="0"/>
              <a:t>A simple supervisor can combine these operations into one easy-to-understand system.</a:t>
            </a:r>
          </a:p>
          <a:p>
            <a:pPr>
              <a:spcAft>
                <a:spcPts val="900"/>
              </a:spcAft>
              <a:defRPr sz="1700">
                <a:solidFill>
                  <a:srgbClr val="23262B"/>
                </a:solidFill>
                <a:latin typeface="Arial"/>
              </a:defRPr>
            </a:pPr>
            <a:endParaRPr sz="2400" dirty="0"/>
          </a:p>
        </p:txBody>
      </p:sp>
      <p:sp>
        <p:nvSpPr>
          <p:cNvPr id="7" name="Rounded Rectangle 6"/>
          <p:cNvSpPr/>
          <p:nvPr/>
        </p:nvSpPr>
        <p:spPr>
          <a:xfrm>
            <a:off x="777240" y="4800600"/>
            <a:ext cx="10607040" cy="9601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dirty="0"/>
              <a:t>GAP IDENTIFIED</a:t>
            </a:r>
          </a:p>
          <a:p>
            <a:pPr>
              <a:spcBef>
                <a:spcPts val="800"/>
              </a:spcBef>
              <a:defRPr sz="1400">
                <a:solidFill>
                  <a:srgbClr val="23262B"/>
                </a:solidFill>
                <a:latin typeface="Arial"/>
              </a:defRPr>
            </a:pPr>
            <a:r>
              <a:rPr lang="en-IN" sz="1400" dirty="0">
                <a:solidFill>
                  <a:srgbClr val="23262B"/>
                </a:solidFill>
                <a:latin typeface="Arial"/>
              </a:rPr>
              <a:t>Need for a small and user-friendly system that combines </a:t>
            </a:r>
            <a:r>
              <a:rPr lang="en-IN" sz="1400" b="1" dirty="0">
                <a:solidFill>
                  <a:srgbClr val="23262B"/>
                </a:solidFill>
                <a:latin typeface="Arial"/>
              </a:rPr>
              <a:t>process monitoring, process control, and service supervision</a:t>
            </a:r>
            <a:r>
              <a:rPr lang="en-IN" sz="1400" dirty="0">
                <a:solidFill>
                  <a:srgbClr val="23262B"/>
                </a:solidFill>
                <a:latin typeface="Arial"/>
              </a:rPr>
              <a:t> in one application.</a:t>
            </a:r>
          </a:p>
          <a:p>
            <a:pPr>
              <a:spcBef>
                <a:spcPts val="800"/>
              </a:spcBef>
              <a:defRPr sz="1400">
                <a:solidFill>
                  <a:srgbClr val="23262B"/>
                </a:solidFill>
                <a:latin typeface="Arial"/>
              </a:defRPr>
            </a:pPr>
            <a:r>
              <a:rPr dirty="0"/>
              <a:t>.</a:t>
            </a:r>
          </a:p>
        </p:txBody>
      </p:sp>
      <p:sp>
        <p:nvSpPr>
          <p:cNvPr id="8" name="Rectangle 7"/>
          <p:cNvSpPr/>
          <p:nvPr/>
        </p:nvSpPr>
        <p:spPr>
          <a:xfrm>
            <a:off x="777240" y="4800600"/>
            <a:ext cx="64008" cy="96012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PROBLEM STATEMENT</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6</a:t>
            </a:r>
          </a:p>
        </p:txBody>
      </p:sp>
      <p:sp>
        <p:nvSpPr>
          <p:cNvPr id="6" name="Rounded Rectangle 5"/>
          <p:cNvSpPr/>
          <p:nvPr/>
        </p:nvSpPr>
        <p:spPr>
          <a:xfrm>
            <a:off x="731520" y="1143000"/>
            <a:ext cx="10698480" cy="128016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600" b="1">
                <a:solidFill>
                  <a:srgbClr val="1B3254"/>
                </a:solidFill>
                <a:latin typeface="Arial"/>
              </a:defRPr>
            </a:pPr>
            <a:r>
              <a:rPr dirty="0"/>
              <a:t>CORE PROBLEM</a:t>
            </a:r>
            <a:endParaRPr lang="en-US" dirty="0"/>
          </a:p>
          <a:p>
            <a:pPr algn="ctr">
              <a:defRPr sz="1600" b="1">
                <a:solidFill>
                  <a:srgbClr val="1B3254"/>
                </a:solidFill>
                <a:latin typeface="Arial"/>
              </a:defRPr>
            </a:pPr>
            <a:r>
              <a:rPr lang="en-IN" sz="1600" b="1" dirty="0">
                <a:solidFill>
                  <a:srgbClr val="1B3254"/>
                </a:solidFill>
                <a:latin typeface="Arial"/>
              </a:rPr>
              <a:t>The system must provide a simple way to monitor and control Linux processes and services while displaying their current status.</a:t>
            </a:r>
            <a:endParaRPr dirty="0"/>
          </a:p>
        </p:txBody>
      </p:sp>
      <p:sp>
        <p:nvSpPr>
          <p:cNvPr id="7" name="Rectangle 6"/>
          <p:cNvSpPr/>
          <p:nvPr/>
        </p:nvSpPr>
        <p:spPr>
          <a:xfrm>
            <a:off x="731520" y="1143000"/>
            <a:ext cx="64008" cy="128016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788920"/>
            <a:ext cx="10241280" cy="3539430"/>
          </a:xfrm>
          <a:prstGeom prst="rect">
            <a:avLst/>
          </a:prstGeom>
          <a:noFill/>
        </p:spPr>
        <p:txBody>
          <a:bodyPr wrap="square">
            <a:spAutoFit/>
          </a:bodyPr>
          <a:lstStyle/>
          <a:p>
            <a:pPr lvl="0"/>
            <a:r>
              <a:rPr lang="en-IN" sz="2800" dirty="0"/>
              <a:t>Display currently running processes. </a:t>
            </a:r>
          </a:p>
          <a:p>
            <a:pPr lvl="0"/>
            <a:r>
              <a:rPr lang="en-IN" sz="2800" dirty="0"/>
              <a:t>Show process ID, name, state, CPU and memory usage. </a:t>
            </a:r>
          </a:p>
          <a:p>
            <a:pPr lvl="0"/>
            <a:r>
              <a:rPr lang="en-IN" sz="2800" dirty="0"/>
              <a:t>Allow users to select a process using its PID. </a:t>
            </a:r>
          </a:p>
          <a:p>
            <a:pPr lvl="0"/>
            <a:r>
              <a:rPr lang="en-IN" sz="2800" dirty="0"/>
              <a:t>Provide basic process-control operations. </a:t>
            </a:r>
          </a:p>
          <a:p>
            <a:pPr lvl="0"/>
            <a:r>
              <a:rPr lang="en-IN" sz="2800" dirty="0"/>
              <a:t>Monitor the status of selected processes. </a:t>
            </a:r>
          </a:p>
          <a:p>
            <a:pPr lvl="0"/>
            <a:r>
              <a:rPr lang="en-IN" sz="2800" dirty="0"/>
              <a:t>Display service status when required. </a:t>
            </a:r>
          </a:p>
          <a:p>
            <a:pPr lvl="0"/>
            <a:r>
              <a:rPr lang="en-IN" sz="2800" dirty="0"/>
              <a:t>Handle invalid PIDs and permission errors safely.</a:t>
            </a:r>
          </a:p>
          <a:p>
            <a:pPr>
              <a:spcAft>
                <a:spcPts val="900"/>
              </a:spcAft>
              <a:defRPr sz="1700">
                <a:solidFill>
                  <a:srgbClr val="23262B"/>
                </a:solidFill>
                <a:latin typeface="Arial"/>
              </a:defRPr>
            </a:pPr>
            <a:endParaRPr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PROPOSED SOLUTION</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7</a:t>
            </a:r>
          </a:p>
        </p:txBody>
      </p:sp>
      <p:sp>
        <p:nvSpPr>
          <p:cNvPr id="6" name="Rounded Rectangle 5"/>
          <p:cNvSpPr/>
          <p:nvPr/>
        </p:nvSpPr>
        <p:spPr>
          <a:xfrm>
            <a:off x="822960" y="1051560"/>
            <a:ext cx="10698480" cy="114300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500" b="1">
                <a:solidFill>
                  <a:srgbClr val="1B3254"/>
                </a:solidFill>
                <a:latin typeface="Arial"/>
              </a:defRPr>
            </a:pPr>
            <a:r>
              <a:rPr dirty="0"/>
              <a:t>SOLUTION</a:t>
            </a:r>
          </a:p>
          <a:p>
            <a:pPr>
              <a:spcBef>
                <a:spcPts val="800"/>
              </a:spcBef>
              <a:defRPr sz="1500">
                <a:solidFill>
                  <a:srgbClr val="23262B"/>
                </a:solidFill>
                <a:latin typeface="Arial"/>
              </a:defRPr>
            </a:pPr>
            <a:r>
              <a:rPr lang="en-IN" sz="1500" dirty="0">
                <a:solidFill>
                  <a:srgbClr val="23262B"/>
                </a:solidFill>
                <a:latin typeface="Arial"/>
              </a:rPr>
              <a:t>Develop a Linux-based </a:t>
            </a:r>
            <a:r>
              <a:rPr lang="en-IN" sz="1500" b="1" dirty="0">
                <a:solidFill>
                  <a:srgbClr val="23262B"/>
                </a:solidFill>
                <a:latin typeface="Arial"/>
              </a:rPr>
              <a:t>Service and Process Supervisor</a:t>
            </a:r>
            <a:r>
              <a:rPr lang="en-IN" sz="1500" dirty="0">
                <a:solidFill>
                  <a:srgbClr val="23262B"/>
                </a:solidFill>
                <a:latin typeface="Arial"/>
              </a:rPr>
              <a:t> that collects process information, displays important process details, and provides basic process and service management operations.</a:t>
            </a:r>
            <a:endParaRPr dirty="0"/>
          </a:p>
        </p:txBody>
      </p:sp>
      <p:sp>
        <p:nvSpPr>
          <p:cNvPr id="7" name="Rectangle 6"/>
          <p:cNvSpPr/>
          <p:nvPr/>
        </p:nvSpPr>
        <p:spPr>
          <a:xfrm>
            <a:off x="731520" y="1051560"/>
            <a:ext cx="64008" cy="114300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7373" y="2825496"/>
            <a:ext cx="201168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COLLECT</a:t>
            </a:r>
          </a:p>
          <a:p>
            <a:pPr algn="ctr">
              <a:defRPr sz="1400" b="1">
                <a:solidFill>
                  <a:srgbClr val="1B3254"/>
                </a:solidFill>
                <a:latin typeface="Arial"/>
              </a:defRPr>
            </a:pPr>
            <a:br>
              <a:rPr lang="en-IN" sz="1400" b="1" dirty="0">
                <a:solidFill>
                  <a:srgbClr val="1B3254"/>
                </a:solidFill>
                <a:latin typeface="Arial"/>
              </a:rPr>
            </a:br>
            <a:r>
              <a:rPr lang="en-IN" sz="1400" b="1" dirty="0">
                <a:solidFill>
                  <a:srgbClr val="1B3254"/>
                </a:solidFill>
                <a:latin typeface="Arial"/>
              </a:rPr>
              <a:t>Retrieve process and service information</a:t>
            </a:r>
            <a:endParaRPr dirty="0"/>
          </a:p>
        </p:txBody>
      </p:sp>
      <p:sp>
        <p:nvSpPr>
          <p:cNvPr id="9" name="Rectangle 8"/>
          <p:cNvSpPr/>
          <p:nvPr/>
        </p:nvSpPr>
        <p:spPr>
          <a:xfrm>
            <a:off x="594360" y="2743200"/>
            <a:ext cx="64008" cy="141732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898648" y="2743200"/>
            <a:ext cx="201168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DISPLAY</a:t>
            </a:r>
          </a:p>
          <a:p>
            <a:pPr algn="ctr">
              <a:defRPr sz="1400" b="1">
                <a:solidFill>
                  <a:srgbClr val="1B3254"/>
                </a:solidFill>
                <a:latin typeface="Arial"/>
              </a:defRPr>
            </a:pPr>
            <a:br>
              <a:rPr lang="en-IN" sz="1400" b="1" dirty="0">
                <a:solidFill>
                  <a:srgbClr val="1B3254"/>
                </a:solidFill>
                <a:latin typeface="Arial"/>
              </a:rPr>
            </a:br>
            <a:r>
              <a:rPr lang="en-IN" sz="1400" b="1" dirty="0">
                <a:solidFill>
                  <a:srgbClr val="1B3254"/>
                </a:solidFill>
                <a:latin typeface="Arial"/>
              </a:rPr>
              <a:t>Show PID, name, state, CPU and memory</a:t>
            </a:r>
            <a:endParaRPr dirty="0"/>
          </a:p>
        </p:txBody>
      </p:sp>
      <p:sp>
        <p:nvSpPr>
          <p:cNvPr id="11" name="Rectangle 10"/>
          <p:cNvSpPr/>
          <p:nvPr/>
        </p:nvSpPr>
        <p:spPr>
          <a:xfrm>
            <a:off x="2898648" y="2743200"/>
            <a:ext cx="64008" cy="141732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202936" y="2743200"/>
            <a:ext cx="201168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SELECT</a:t>
            </a:r>
          </a:p>
          <a:p>
            <a:pPr algn="ctr">
              <a:defRPr sz="1400" b="1">
                <a:solidFill>
                  <a:srgbClr val="1B3254"/>
                </a:solidFill>
                <a:latin typeface="Arial"/>
              </a:defRPr>
            </a:pPr>
            <a:br>
              <a:rPr lang="en-IN" sz="1400" b="1" dirty="0">
                <a:solidFill>
                  <a:srgbClr val="1B3254"/>
                </a:solidFill>
                <a:latin typeface="Arial"/>
              </a:rPr>
            </a:br>
            <a:r>
              <a:rPr lang="en-IN" sz="1400" b="1" dirty="0">
                <a:solidFill>
                  <a:srgbClr val="1B3254"/>
                </a:solidFill>
                <a:latin typeface="Arial"/>
              </a:rPr>
              <a:t>User selects a process/service</a:t>
            </a:r>
            <a:endParaRPr dirty="0"/>
          </a:p>
        </p:txBody>
      </p:sp>
      <p:sp>
        <p:nvSpPr>
          <p:cNvPr id="13" name="Rectangle 12"/>
          <p:cNvSpPr/>
          <p:nvPr/>
        </p:nvSpPr>
        <p:spPr>
          <a:xfrm>
            <a:off x="5202936" y="2743200"/>
            <a:ext cx="64008" cy="1417320"/>
          </a:xfrm>
          <a:prstGeom prst="rect">
            <a:avLst/>
          </a:prstGeom>
          <a:solidFill>
            <a:srgbClr val="C49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507224" y="2743200"/>
            <a:ext cx="201168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CONTROL</a:t>
            </a:r>
          </a:p>
          <a:p>
            <a:pPr algn="ctr">
              <a:defRPr sz="1400" b="1">
                <a:solidFill>
                  <a:srgbClr val="1B3254"/>
                </a:solidFill>
                <a:latin typeface="Arial"/>
              </a:defRPr>
            </a:pPr>
            <a:br>
              <a:rPr lang="en-IN" sz="1400" b="1" dirty="0">
                <a:solidFill>
                  <a:srgbClr val="1B3254"/>
                </a:solidFill>
                <a:latin typeface="Arial"/>
              </a:rPr>
            </a:br>
            <a:r>
              <a:rPr lang="en-IN" sz="1400" b="1" dirty="0">
                <a:solidFill>
                  <a:srgbClr val="1B3254"/>
                </a:solidFill>
                <a:latin typeface="Arial"/>
              </a:rPr>
              <a:t>Start / Stop / Terminate</a:t>
            </a:r>
            <a:endParaRPr dirty="0"/>
          </a:p>
        </p:txBody>
      </p:sp>
      <p:sp>
        <p:nvSpPr>
          <p:cNvPr id="15" name="Rectangle 14"/>
          <p:cNvSpPr/>
          <p:nvPr/>
        </p:nvSpPr>
        <p:spPr>
          <a:xfrm>
            <a:off x="7507224" y="2743200"/>
            <a:ext cx="64008" cy="141732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811512" y="2743200"/>
            <a:ext cx="201168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lang="en-IN" sz="1400" b="1" dirty="0">
                <a:solidFill>
                  <a:srgbClr val="1B3254"/>
                </a:solidFill>
                <a:latin typeface="Arial"/>
              </a:rPr>
              <a:t>MONITOR</a:t>
            </a:r>
            <a:br>
              <a:rPr lang="en-IN" sz="1400" b="1" dirty="0">
                <a:solidFill>
                  <a:srgbClr val="1B3254"/>
                </a:solidFill>
                <a:latin typeface="Arial"/>
              </a:rPr>
            </a:br>
            <a:r>
              <a:rPr lang="en-IN" sz="1400" b="1" dirty="0">
                <a:solidFill>
                  <a:srgbClr val="1B3254"/>
                </a:solidFill>
                <a:latin typeface="Arial"/>
              </a:rPr>
              <a:t>Check updated status</a:t>
            </a:r>
            <a:endParaRPr dirty="0"/>
          </a:p>
        </p:txBody>
      </p:sp>
      <p:sp>
        <p:nvSpPr>
          <p:cNvPr id="17" name="Rectangle 16"/>
          <p:cNvSpPr/>
          <p:nvPr/>
        </p:nvSpPr>
        <p:spPr>
          <a:xfrm>
            <a:off x="9811512" y="2743200"/>
            <a:ext cx="64008" cy="141732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OBJECTIVES</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8</a:t>
            </a:r>
          </a:p>
        </p:txBody>
      </p:sp>
      <p:sp>
        <p:nvSpPr>
          <p:cNvPr id="6" name="TextBox 5"/>
          <p:cNvSpPr txBox="1"/>
          <p:nvPr/>
        </p:nvSpPr>
        <p:spPr>
          <a:xfrm>
            <a:off x="868680" y="1234440"/>
            <a:ext cx="10332720" cy="3801041"/>
          </a:xfrm>
          <a:prstGeom prst="rect">
            <a:avLst/>
          </a:prstGeom>
          <a:noFill/>
        </p:spPr>
        <p:txBody>
          <a:bodyPr wrap="square">
            <a:spAutoFit/>
          </a:bodyPr>
          <a:lstStyle/>
          <a:p>
            <a:pPr lvl="0"/>
            <a:r>
              <a:rPr lang="en-IN" sz="2800" dirty="0"/>
              <a:t>Monitor currently running Linux processes. </a:t>
            </a:r>
          </a:p>
          <a:p>
            <a:pPr lvl="0"/>
            <a:r>
              <a:rPr lang="en-IN" sz="2800" dirty="0"/>
              <a:t>Display important process information. </a:t>
            </a:r>
          </a:p>
          <a:p>
            <a:pPr lvl="0"/>
            <a:r>
              <a:rPr lang="en-IN" sz="2800" dirty="0"/>
              <a:t>Identify processes using their Process ID (PID). </a:t>
            </a:r>
          </a:p>
          <a:p>
            <a:pPr lvl="0"/>
            <a:r>
              <a:rPr lang="en-IN" sz="2800" dirty="0"/>
              <a:t>Monitor CPU and memory usage. </a:t>
            </a:r>
          </a:p>
          <a:p>
            <a:pPr lvl="0"/>
            <a:r>
              <a:rPr lang="en-IN" sz="2800" dirty="0"/>
              <a:t>Provide basic process-control operations. </a:t>
            </a:r>
          </a:p>
          <a:p>
            <a:pPr lvl="0"/>
            <a:r>
              <a:rPr lang="en-IN" sz="2800" dirty="0"/>
              <a:t>Display the status of Linux services. </a:t>
            </a:r>
          </a:p>
          <a:p>
            <a:pPr lvl="0"/>
            <a:r>
              <a:rPr lang="en-IN" sz="2800" dirty="0"/>
              <a:t>Handle invalid process IDs and permission errors. </a:t>
            </a:r>
          </a:p>
          <a:p>
            <a:pPr lvl="0"/>
            <a:r>
              <a:rPr lang="en-IN" sz="2800" dirty="0"/>
              <a:t>Provide a simple and understandable process-management interface.</a:t>
            </a:r>
          </a:p>
          <a:p>
            <a:pPr>
              <a:spcAft>
                <a:spcPts val="900"/>
              </a:spcAft>
              <a:defRPr sz="1700">
                <a:solidFill>
                  <a:srgbClr val="23262B"/>
                </a:solidFill>
                <a:latin typeface="Arial"/>
              </a:defRPr>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11480"/>
            <a:ext cx="10607040" cy="502920"/>
          </a:xfrm>
          <a:prstGeom prst="rect">
            <a:avLst/>
          </a:prstGeom>
          <a:noFill/>
        </p:spPr>
        <p:txBody>
          <a:bodyPr wrap="none">
            <a:spAutoFit/>
          </a:bodyPr>
          <a:lstStyle/>
          <a:p>
            <a:pPr>
              <a:defRPr sz="2600" b="1">
                <a:solidFill>
                  <a:srgbClr val="1B3254"/>
                </a:solidFill>
                <a:latin typeface="Arial"/>
              </a:defRPr>
            </a:pPr>
            <a:r>
              <a:t>CONCLUSION &amp; EXPECTED OUTCOME</a:t>
            </a:r>
          </a:p>
        </p:txBody>
      </p:sp>
      <p:sp>
        <p:nvSpPr>
          <p:cNvPr id="4" name="TextBox 3"/>
          <p:cNvSpPr txBox="1"/>
          <p:nvPr/>
        </p:nvSpPr>
        <p:spPr>
          <a:xfrm>
            <a:off x="640080" y="6510528"/>
            <a:ext cx="10881360" cy="201168"/>
          </a:xfrm>
          <a:prstGeom prst="rect">
            <a:avLst/>
          </a:prstGeom>
          <a:noFill/>
        </p:spPr>
        <p:txBody>
          <a:bodyPr wrap="none">
            <a:spAutoFit/>
          </a:bodyPr>
          <a:lstStyle/>
          <a:p>
            <a:pPr>
              <a:defRPr sz="900">
                <a:solidFill>
                  <a:srgbClr val="55585F"/>
                </a:solidFill>
              </a:defRPr>
            </a:pPr>
            <a:r>
              <a:t>OPERATING SYSTEMS AND SYSTEMS PROGRAMMING (25CS2104E) • 2026–27 • Term-I • TEAM 2</a:t>
            </a:r>
          </a:p>
        </p:txBody>
      </p:sp>
      <p:sp>
        <p:nvSpPr>
          <p:cNvPr id="5" name="TextBox 4"/>
          <p:cNvSpPr txBox="1"/>
          <p:nvPr/>
        </p:nvSpPr>
        <p:spPr>
          <a:xfrm>
            <a:off x="11384280" y="6473952"/>
            <a:ext cx="411480" cy="228600"/>
          </a:xfrm>
          <a:prstGeom prst="rect">
            <a:avLst/>
          </a:prstGeom>
          <a:noFill/>
        </p:spPr>
        <p:txBody>
          <a:bodyPr wrap="none">
            <a:spAutoFit/>
          </a:bodyPr>
          <a:lstStyle/>
          <a:p>
            <a:pPr algn="r">
              <a:defRPr sz="900">
                <a:solidFill>
                  <a:srgbClr val="55585F"/>
                </a:solidFill>
              </a:defRPr>
            </a:pPr>
            <a:r>
              <a:t>11</a:t>
            </a:r>
          </a:p>
        </p:txBody>
      </p:sp>
      <p:sp>
        <p:nvSpPr>
          <p:cNvPr id="6" name="Rounded Rectangle 5"/>
          <p:cNvSpPr/>
          <p:nvPr/>
        </p:nvSpPr>
        <p:spPr>
          <a:xfrm>
            <a:off x="685800" y="1051560"/>
            <a:ext cx="6400800" cy="182880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500" b="1">
                <a:solidFill>
                  <a:srgbClr val="1B3254"/>
                </a:solidFill>
                <a:latin typeface="Arial"/>
              </a:defRPr>
            </a:pPr>
            <a:r>
              <a:rPr dirty="0"/>
              <a:t>EXPECTED OUTCOME</a:t>
            </a:r>
          </a:p>
          <a:p>
            <a:pPr>
              <a:spcBef>
                <a:spcPts val="800"/>
              </a:spcBef>
              <a:defRPr sz="1400">
                <a:solidFill>
                  <a:srgbClr val="23262B"/>
                </a:solidFill>
                <a:latin typeface="Arial"/>
              </a:defRPr>
            </a:pPr>
            <a:r>
              <a:rPr lang="en-IN" sz="1400" dirty="0">
                <a:solidFill>
                  <a:srgbClr val="23262B"/>
                </a:solidFill>
                <a:latin typeface="Arial"/>
              </a:rPr>
              <a:t>A working Linux-based </a:t>
            </a:r>
            <a:r>
              <a:rPr lang="en-IN" sz="1400" b="1" dirty="0">
                <a:solidFill>
                  <a:srgbClr val="23262B"/>
                </a:solidFill>
                <a:latin typeface="Arial"/>
              </a:rPr>
              <a:t>Service and Process Supervisor</a:t>
            </a:r>
            <a:r>
              <a:rPr lang="en-IN" sz="1400" dirty="0">
                <a:solidFill>
                  <a:srgbClr val="23262B"/>
                </a:solidFill>
                <a:latin typeface="Arial"/>
              </a:rPr>
              <a:t> that can display running processes, monitor resource usage, check service status, and perform basic process-control operations</a:t>
            </a:r>
            <a:endParaRPr dirty="0"/>
          </a:p>
        </p:txBody>
      </p:sp>
      <p:sp>
        <p:nvSpPr>
          <p:cNvPr id="7" name="Rectangle 6"/>
          <p:cNvSpPr/>
          <p:nvPr/>
        </p:nvSpPr>
        <p:spPr>
          <a:xfrm>
            <a:off x="685800" y="1051560"/>
            <a:ext cx="64008" cy="182880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0" y="1051560"/>
            <a:ext cx="4160520" cy="182880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dirty="0"/>
              <a:t>COURSE CONNECTION</a:t>
            </a:r>
          </a:p>
          <a:p>
            <a:pPr>
              <a:spcBef>
                <a:spcPts val="800"/>
              </a:spcBef>
              <a:defRPr sz="1300">
                <a:solidFill>
                  <a:srgbClr val="23262B"/>
                </a:solidFill>
                <a:latin typeface="Arial"/>
              </a:defRPr>
            </a:pPr>
            <a:r>
              <a:rPr lang="en-IN" sz="1300" dirty="0">
                <a:solidFill>
                  <a:srgbClr val="23262B"/>
                </a:solidFill>
                <a:latin typeface="Arial"/>
              </a:rPr>
              <a:t>Process Management • Process States • CPU Scheduling • System Calls • Signals • Inter-Process Management • Linux Services</a:t>
            </a:r>
            <a:endParaRPr dirty="0"/>
          </a:p>
        </p:txBody>
      </p:sp>
      <p:sp>
        <p:nvSpPr>
          <p:cNvPr id="9" name="Rectangle 8"/>
          <p:cNvSpPr/>
          <p:nvPr/>
        </p:nvSpPr>
        <p:spPr>
          <a:xfrm>
            <a:off x="7315200" y="1051560"/>
            <a:ext cx="64008" cy="1828800"/>
          </a:xfrm>
          <a:prstGeom prst="rect">
            <a:avLst/>
          </a:prstGeom>
          <a:solidFill>
            <a:srgbClr val="1B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3337560"/>
            <a:ext cx="10789920" cy="141732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r>
              <a:rPr dirty="0"/>
              <a:t>INDIVIDUAL CONTRIBUTIONS</a:t>
            </a:r>
          </a:p>
          <a:p>
            <a:pPr>
              <a:spcBef>
                <a:spcPts val="800"/>
              </a:spcBef>
              <a:defRPr sz="1200">
                <a:solidFill>
                  <a:srgbClr val="23262B"/>
                </a:solidFill>
                <a:latin typeface="Arial"/>
              </a:defRPr>
            </a:pPr>
            <a:r>
              <a:rPr lang="en-IN" sz="1200" b="1" dirty="0">
                <a:solidFill>
                  <a:srgbClr val="23262B"/>
                </a:solidFill>
                <a:latin typeface="Arial"/>
              </a:rPr>
              <a:t>Charan:</a:t>
            </a:r>
            <a:r>
              <a:rPr lang="en-IN" sz="1200" dirty="0">
                <a:solidFill>
                  <a:srgbClr val="23262B"/>
                </a:solidFill>
                <a:latin typeface="Arial"/>
              </a:rPr>
              <a:t> Project coordination &amp; integration</a:t>
            </a:r>
            <a:br>
              <a:rPr lang="en-IN" sz="1200" dirty="0">
                <a:solidFill>
                  <a:srgbClr val="23262B"/>
                </a:solidFill>
                <a:latin typeface="Arial"/>
              </a:rPr>
            </a:br>
            <a:r>
              <a:rPr lang="en-IN" sz="1200" b="1" dirty="0">
                <a:solidFill>
                  <a:srgbClr val="23262B"/>
                </a:solidFill>
                <a:latin typeface="Arial"/>
              </a:rPr>
              <a:t>Varun:</a:t>
            </a:r>
            <a:r>
              <a:rPr lang="en-IN" sz="1200" dirty="0">
                <a:solidFill>
                  <a:srgbClr val="23262B"/>
                </a:solidFill>
                <a:latin typeface="Arial"/>
              </a:rPr>
              <a:t> Process monitoring &amp; process control</a:t>
            </a:r>
            <a:br>
              <a:rPr lang="en-IN" sz="1200" dirty="0">
                <a:solidFill>
                  <a:srgbClr val="23262B"/>
                </a:solidFill>
                <a:latin typeface="Arial"/>
              </a:rPr>
            </a:br>
            <a:r>
              <a:rPr lang="en-IN" sz="1200" b="1" dirty="0">
                <a:solidFill>
                  <a:srgbClr val="23262B"/>
                </a:solidFill>
                <a:latin typeface="Arial"/>
              </a:rPr>
              <a:t>Satya:</a:t>
            </a:r>
            <a:r>
              <a:rPr lang="en-IN" sz="1200" dirty="0">
                <a:solidFill>
                  <a:srgbClr val="23262B"/>
                </a:solidFill>
                <a:latin typeface="Arial"/>
              </a:rPr>
              <a:t> Service monitoring &amp; testing</a:t>
            </a:r>
            <a:br>
              <a:rPr lang="en-IN" sz="1200" dirty="0">
                <a:solidFill>
                  <a:srgbClr val="23262B"/>
                </a:solidFill>
                <a:latin typeface="Arial"/>
              </a:rPr>
            </a:br>
            <a:r>
              <a:rPr lang="en-IN" sz="1200" b="1" dirty="0">
                <a:solidFill>
                  <a:srgbClr val="23262B"/>
                </a:solidFill>
                <a:latin typeface="Arial"/>
              </a:rPr>
              <a:t>Teja:</a:t>
            </a:r>
            <a:r>
              <a:rPr lang="en-IN" sz="1200" dirty="0">
                <a:solidFill>
                  <a:srgbClr val="23262B"/>
                </a:solidFill>
                <a:latin typeface="Arial"/>
              </a:rPr>
              <a:t> Error handling, documentation &amp; integration</a:t>
            </a:r>
            <a:endParaRPr dirty="0"/>
          </a:p>
        </p:txBody>
      </p:sp>
      <p:sp>
        <p:nvSpPr>
          <p:cNvPr id="11" name="Rectangle 10"/>
          <p:cNvSpPr/>
          <p:nvPr/>
        </p:nvSpPr>
        <p:spPr>
          <a:xfrm>
            <a:off x="685800" y="3337560"/>
            <a:ext cx="64008" cy="1417320"/>
          </a:xfrm>
          <a:prstGeom prst="rect">
            <a:avLst/>
          </a:prstGeom>
          <a:solidFill>
            <a:srgbClr val="C49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85800" y="5074920"/>
            <a:ext cx="10789920" cy="822960"/>
          </a:xfrm>
          <a:prstGeom prst="roundRect">
            <a:avLst/>
          </a:prstGeom>
          <a:solidFill>
            <a:srgbClr val="F6F7F9"/>
          </a:solidFill>
          <a:ln>
            <a:solidFill>
              <a:srgbClr val="DCDEE2"/>
            </a:solidFill>
          </a:ln>
        </p:spPr>
        <p:style>
          <a:lnRef idx="1">
            <a:schemeClr val="accent1"/>
          </a:lnRef>
          <a:fillRef idx="3">
            <a:schemeClr val="accent1"/>
          </a:fillRef>
          <a:effectRef idx="2">
            <a:schemeClr val="accent1"/>
          </a:effectRef>
          <a:fontRef idx="minor">
            <a:schemeClr val="lt1"/>
          </a:fontRef>
        </p:style>
        <p:txBody>
          <a:bodyPr lIns="164592" rIns="137160" rtlCol="0" anchor="ctr"/>
          <a:lstStyle/>
          <a:p>
            <a:pPr algn="ctr">
              <a:defRPr sz="1400" b="1">
                <a:solidFill>
                  <a:srgbClr val="1B3254"/>
                </a:solidFill>
                <a:latin typeface="Arial"/>
              </a:defRPr>
            </a:pPr>
            <a:endParaRPr dirty="0"/>
          </a:p>
          <a:p>
            <a:pPr>
              <a:spcBef>
                <a:spcPts val="800"/>
              </a:spcBef>
              <a:defRPr sz="1400">
                <a:solidFill>
                  <a:srgbClr val="23262B"/>
                </a:solidFill>
                <a:latin typeface="Arial"/>
              </a:defRPr>
            </a:pPr>
            <a:endParaRPr dirty="0"/>
          </a:p>
        </p:txBody>
      </p:sp>
      <p:sp>
        <p:nvSpPr>
          <p:cNvPr id="13" name="Rectangle 12"/>
          <p:cNvSpPr/>
          <p:nvPr/>
        </p:nvSpPr>
        <p:spPr>
          <a:xfrm>
            <a:off x="685800" y="5074920"/>
            <a:ext cx="64008" cy="822960"/>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B01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005840"/>
            <a:ext cx="10972800" cy="640080"/>
          </a:xfrm>
          <a:prstGeom prst="rect">
            <a:avLst/>
          </a:prstGeom>
          <a:noFill/>
        </p:spPr>
        <p:txBody>
          <a:bodyPr wrap="none">
            <a:spAutoFit/>
          </a:bodyPr>
          <a:lstStyle/>
          <a:p>
            <a:pPr algn="ctr">
              <a:defRPr sz="3800" b="1">
                <a:solidFill>
                  <a:srgbClr val="1B3254"/>
                </a:solidFill>
              </a:defRPr>
            </a:pPr>
            <a:r>
              <a:t>THANK YOU</a:t>
            </a:r>
          </a:p>
        </p:txBody>
      </p:sp>
      <p:sp>
        <p:nvSpPr>
          <p:cNvPr id="5" name="TextBox 4"/>
          <p:cNvSpPr txBox="1"/>
          <p:nvPr/>
        </p:nvSpPr>
        <p:spPr>
          <a:xfrm>
            <a:off x="4484554" y="2743200"/>
            <a:ext cx="3192412" cy="323165"/>
          </a:xfrm>
          <a:prstGeom prst="rect">
            <a:avLst/>
          </a:prstGeom>
          <a:noFill/>
        </p:spPr>
        <p:txBody>
          <a:bodyPr wrap="none">
            <a:spAutoFit/>
          </a:bodyPr>
          <a:lstStyle/>
          <a:p>
            <a:pPr algn="ctr">
              <a:defRPr sz="1500">
                <a:solidFill>
                  <a:srgbClr val="55585F"/>
                </a:solidFill>
              </a:defRPr>
            </a:pPr>
            <a:r>
              <a:rPr dirty="0"/>
              <a:t>OSSP • Section 8 • </a:t>
            </a:r>
            <a:r>
              <a:t>Team </a:t>
            </a:r>
            <a:r>
              <a:rPr lang="en-US"/>
              <a:t>1</a:t>
            </a:r>
            <a:r>
              <a:t>2 </a:t>
            </a:r>
            <a:r>
              <a:rPr dirty="0"/>
              <a:t>•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730</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 Charan Reddy</dc:creator>
  <cp:keywords/>
  <dc:description>generated using python-pptx</dc:description>
  <cp:lastModifiedBy>charan reddy</cp:lastModifiedBy>
  <cp:revision>2</cp:revision>
  <dcterms:created xsi:type="dcterms:W3CDTF">2013-01-27T09:14:16Z</dcterms:created>
  <dcterms:modified xsi:type="dcterms:W3CDTF">2026-09-24T03:15:07Z</dcterms:modified>
  <cp:category/>
</cp:coreProperties>
</file>